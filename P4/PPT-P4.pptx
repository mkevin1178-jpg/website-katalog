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5" r:id="rId10"/>
  </p:sldIdLst>
  <p:sldSz cx="12192000" cy="6858000"/>
  <p:notesSz cx="6858000" cy="12192000"/>
  <p:embeddedFontLst>
    <p:embeddedFont>
      <p:font typeface="Libre Franklin" pitchFamily="2" charset="0"/>
      <p:regular r:id="rId12"/>
    </p:embeddedFont>
    <p:embeddedFont>
      <p:font typeface="Libre Franklin Bold" charset="0"/>
      <p:regular r:id="rId13"/>
    </p:embeddedFont>
    <p:embeddedFont>
      <p:font typeface="Libre Franklin Medium" pitchFamily="2" charset="0"/>
      <p:regular r:id="rId14"/>
    </p:embeddedFont>
    <p:embeddedFont>
      <p:font typeface="Libre Franklin SemiBold" pitchFamily="2" charset="0"/>
      <p:bold r:id="rId15"/>
    </p:embeddedFont>
    <p:embeddedFont>
      <p:font typeface="Playfair Display" panose="00000500000000000000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0D5"/>
    <a:srgbClr val="F3B522"/>
    <a:srgbClr val="3E09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908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F59D5-8CF7-36C4-7222-EB7FBA86E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E14B0-6C0C-637E-54A6-49F1046FC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AC57D-C3DB-E5F9-5581-11770B64A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7A1C6-6944-92E8-5318-5836B3B60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44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3E09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BF0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866676"/>
            <a:ext cx="1188690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EF8E75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PROYEK MULTIMEDIA (1-1)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04792" y="1228426"/>
            <a:ext cx="11582110" cy="10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200" kern="100" spc="-105" dirty="0">
                <a:solidFill>
                  <a:srgbClr val="F5E2B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Pengembangan Aset Grafis Website Katalog Pempek Kevin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04792" y="2416155"/>
            <a:ext cx="11886903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5E2B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Analisis kebutuhan, produksi, dan pengumpulan aset grafis.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304792" y="2938244"/>
            <a:ext cx="3571190" cy="1905000"/>
          </a:xfrm>
          <a:prstGeom prst="rect">
            <a:avLst/>
          </a:prstGeom>
          <a:solidFill>
            <a:srgbClr val="6C0F0B"/>
          </a:solidFill>
          <a:ln w="6350">
            <a:solidFill>
              <a:srgbClr val="6C0F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1756" y="3567609"/>
            <a:ext cx="298422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FFFFFF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BINGKAI FOTO HERO 4:3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6630" y="3890744"/>
            <a:ext cx="3327515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MASUKKAN FOTO DI SINI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304792" y="4987032"/>
            <a:ext cx="3571190" cy="1011833"/>
          </a:xfrm>
          <a:prstGeom prst="rect">
            <a:avLst/>
          </a:prstGeom>
          <a:solidFill>
            <a:srgbClr val="F3B522"/>
          </a:solidFill>
          <a:ln w="6350">
            <a:solidFill>
              <a:srgbClr val="6C0F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0676" y="3044925"/>
            <a:ext cx="7706227" cy="228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200" kern="100" spc="18" dirty="0">
                <a:solidFill>
                  <a:srgbClr val="D9B697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Teknologi Rekayasa Multimedia · Semester V · Tahun Akademik 2026/2027 · Pertemuan 4</a:t>
            </a:r>
            <a:endParaRPr lang="en-US" sz="1200" dirty="0"/>
          </a:p>
          <a:p>
            <a:pPr marL="0" indent="0" algn="l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200" kern="100" spc="18" dirty="0">
                <a:solidFill>
                  <a:srgbClr val="D9B697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Dosen pengampu: Khadijah, S.Kom., </a:t>
            </a:r>
            <a:r>
              <a:rPr lang="en-US" sz="1200" kern="100" spc="18" dirty="0" err="1">
                <a:solidFill>
                  <a:srgbClr val="D9B697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M.Kom</a:t>
            </a:r>
            <a:r>
              <a:rPr lang="en-US" sz="1200" kern="100" spc="18" dirty="0">
                <a:solidFill>
                  <a:srgbClr val="D9B697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.</a:t>
            </a:r>
          </a:p>
          <a:p>
            <a:pPr marL="0" indent="0" algn="l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200" kern="100" spc="18" dirty="0">
                <a:solidFill>
                  <a:srgbClr val="D9B697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Nama </a:t>
            </a:r>
            <a:r>
              <a:rPr lang="en-US" sz="1200" kern="100" spc="18" dirty="0" err="1">
                <a:solidFill>
                  <a:srgbClr val="D9B697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anggota</a:t>
            </a:r>
            <a:r>
              <a:rPr lang="en-US" sz="1200" kern="100" spc="18" dirty="0">
                <a:solidFill>
                  <a:srgbClr val="D9B697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 </a:t>
            </a:r>
            <a:r>
              <a:rPr lang="en-US" sz="1200" kern="100" spc="18" dirty="0" err="1">
                <a:solidFill>
                  <a:srgbClr val="D9B697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Kelompok</a:t>
            </a:r>
            <a:r>
              <a:rPr lang="en-US" sz="1200" kern="100" spc="18" dirty="0">
                <a:solidFill>
                  <a:srgbClr val="D9B697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:</a:t>
            </a:r>
          </a:p>
          <a:p>
            <a:pPr>
              <a:lnSpc>
                <a:spcPct val="117000"/>
              </a:lnSpc>
              <a:spcAft>
                <a:spcPts val="1000"/>
              </a:spcAft>
            </a:pPr>
            <a:r>
              <a:rPr lang="en-US" sz="1200" kern="100" spc="18" dirty="0">
                <a:solidFill>
                  <a:srgbClr val="D9B697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- Muhammad Kevin Ramadhan</a:t>
            </a:r>
          </a:p>
          <a:p>
            <a:pPr>
              <a:lnSpc>
                <a:spcPct val="117000"/>
              </a:lnSpc>
              <a:spcAft>
                <a:spcPts val="1000"/>
              </a:spcAft>
            </a:pPr>
            <a:r>
              <a:rPr lang="en-US" sz="1200" kern="100" spc="18" dirty="0">
                <a:solidFill>
                  <a:srgbClr val="D9B697"/>
                </a:solidFill>
                <a:latin typeface="Libre Franklin Medium" pitchFamily="34" charset="0"/>
              </a:rPr>
              <a:t>- Arfan </a:t>
            </a:r>
            <a:r>
              <a:rPr lang="en-US" sz="1200" kern="100" spc="18" dirty="0" err="1">
                <a:solidFill>
                  <a:srgbClr val="D9B697"/>
                </a:solidFill>
                <a:latin typeface="Libre Franklin Medium" pitchFamily="34" charset="0"/>
              </a:rPr>
              <a:t>Ghifari</a:t>
            </a:r>
            <a:endParaRPr lang="en-US" sz="1200" kern="100" spc="18" dirty="0">
              <a:solidFill>
                <a:srgbClr val="D9B697"/>
              </a:solidFill>
              <a:latin typeface="Libre Franklin Medium" pitchFamily="34" charset="0"/>
            </a:endParaRPr>
          </a:p>
          <a:p>
            <a:pPr>
              <a:lnSpc>
                <a:spcPct val="117000"/>
              </a:lnSpc>
              <a:spcAft>
                <a:spcPts val="1000"/>
              </a:spcAft>
            </a:pPr>
            <a:r>
              <a:rPr lang="en-US" sz="1200" kern="100" spc="18" dirty="0">
                <a:solidFill>
                  <a:srgbClr val="D9B697"/>
                </a:solidFill>
                <a:latin typeface="Libre Franklin Medium" pitchFamily="34" charset="0"/>
              </a:rPr>
              <a:t>- </a:t>
            </a:r>
            <a:r>
              <a:rPr lang="en-US" sz="1200" kern="100" spc="18" dirty="0" err="1">
                <a:solidFill>
                  <a:srgbClr val="D9B697"/>
                </a:solidFill>
                <a:latin typeface="Libre Franklin Medium" pitchFamily="34" charset="0"/>
              </a:rPr>
              <a:t>Fachri</a:t>
            </a:r>
            <a:r>
              <a:rPr lang="en-US" sz="1200" kern="100" spc="18" dirty="0">
                <a:solidFill>
                  <a:srgbClr val="D9B697"/>
                </a:solidFill>
                <a:latin typeface="Libre Franklin Medium" pitchFamily="34" charset="0"/>
              </a:rPr>
              <a:t> </a:t>
            </a:r>
            <a:r>
              <a:rPr lang="en-US" sz="1200" kern="100" spc="18" dirty="0" err="1">
                <a:solidFill>
                  <a:srgbClr val="D9B697"/>
                </a:solidFill>
                <a:latin typeface="Libre Franklin Medium" pitchFamily="34" charset="0"/>
              </a:rPr>
              <a:t>Fadillah</a:t>
            </a:r>
            <a:r>
              <a:rPr lang="en-US" sz="1200" kern="100" spc="18" dirty="0">
                <a:solidFill>
                  <a:srgbClr val="D9B697"/>
                </a:solidFill>
                <a:latin typeface="Libre Franklin Medium" pitchFamily="34" charset="0"/>
              </a:rPr>
              <a:t> </a:t>
            </a:r>
            <a:r>
              <a:rPr lang="en-US" sz="1200" kern="100" spc="18" dirty="0" err="1">
                <a:solidFill>
                  <a:srgbClr val="D9B697"/>
                </a:solidFill>
                <a:latin typeface="Libre Franklin Medium" pitchFamily="34" charset="0"/>
              </a:rPr>
              <a:t>Shulhan</a:t>
            </a:r>
            <a:endParaRPr lang="en-US" sz="1200" kern="100" spc="18" dirty="0">
              <a:solidFill>
                <a:srgbClr val="D9B697"/>
              </a:solidFill>
              <a:latin typeface="Libre Franklin Medium" pitchFamily="34" charset="0"/>
            </a:endParaRPr>
          </a:p>
          <a:p>
            <a:pPr>
              <a:lnSpc>
                <a:spcPct val="117000"/>
              </a:lnSpc>
              <a:spcAft>
                <a:spcPts val="1000"/>
              </a:spcAft>
            </a:pPr>
            <a:r>
              <a:rPr lang="en-US" sz="1200" kern="100" spc="18" dirty="0">
                <a:solidFill>
                  <a:srgbClr val="D9B697"/>
                </a:solidFill>
                <a:latin typeface="Libre Franklin Medium" pitchFamily="34" charset="0"/>
              </a:rPr>
              <a:t>- Hayyan Kallam</a:t>
            </a:r>
          </a:p>
          <a:p>
            <a:pPr marL="0" indent="0" algn="l">
              <a:lnSpc>
                <a:spcPct val="117000"/>
              </a:lnSpc>
              <a:spcAft>
                <a:spcPts val="1000"/>
              </a:spcAft>
              <a:buNone/>
            </a:pPr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6DDC8D-ABFD-137C-8E77-DFAFA07B2CB6}"/>
              </a:ext>
            </a:extLst>
          </p:cNvPr>
          <p:cNvSpPr/>
          <p:nvPr/>
        </p:nvSpPr>
        <p:spPr>
          <a:xfrm>
            <a:off x="10531572" y="6372808"/>
            <a:ext cx="1623526" cy="466530"/>
          </a:xfrm>
          <a:prstGeom prst="rect">
            <a:avLst/>
          </a:prstGeom>
          <a:solidFill>
            <a:srgbClr val="3E0908"/>
          </a:solidFill>
          <a:ln>
            <a:solidFill>
              <a:srgbClr val="3E09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91BE09-B592-AC63-3127-949BDAE99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53" y="4758879"/>
            <a:ext cx="2075868" cy="146813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156CA29-E4E3-3987-F043-F37C56D52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1" y="2967256"/>
            <a:ext cx="3571190" cy="1888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2341"/>
            <a:ext cx="1188690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C7351D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01 · ANALISIS KEBUTUHAN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04792" y="666403"/>
            <a:ext cx="11582110" cy="472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800" kern="100" spc="-95" dirty="0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Aset </a:t>
            </a:r>
            <a:r>
              <a:rPr lang="en-US" sz="3800" kern="100" spc="-95" dirty="0" err="1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Grafis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04792" y="1289328"/>
            <a:ext cx="11582110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2A0A0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Fungsi aset grafis: membangun identitas merek, memperjelas informasi produk, mendukung navigasi, memperkuat promosi, dan meningkatkan pengalaman pengguna.</a:t>
            </a:r>
            <a:endParaRPr lang="en-US" sz="1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410056"/>
              </p:ext>
            </p:extLst>
          </p:nvPr>
        </p:nvGraphicFramePr>
        <p:xfrm>
          <a:off x="304945" y="2070407"/>
          <a:ext cx="11582110" cy="3852320"/>
        </p:xfrm>
        <a:graphic>
          <a:graphicData uri="http://schemas.openxmlformats.org/drawingml/2006/table">
            <a:tbl>
              <a:tblPr/>
              <a:tblGrid>
                <a:gridCol w="2316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5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3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Kategori Aset</a:t>
                      </a:r>
                      <a:endParaRPr lang="en-US" sz="17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598" marR="101598" marT="25399" marB="25399" anchor="ctr">
                    <a:lnL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Jenis Aset · Fungsi · Prioritas</a:t>
                      </a:r>
                      <a:endParaRPr lang="en-US" sz="17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598" marR="101598" marT="25399" marB="25399" anchor="ctr">
                    <a:lnL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Identitas visual</a:t>
                      </a:r>
                      <a:endParaRPr lang="en-US" sz="17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598" marR="101598" marT="25399" marB="25399" anchor="ctr">
                    <a:lnL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Logo, palet warna, tipografi · Menjaga konsistensi merek · Prioritas: Tinggi</a:t>
                      </a:r>
                      <a:endParaRPr lang="en-US" sz="17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598" marR="101598" marT="25399" marB="25399" anchor="ctr">
                    <a:lnL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93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Fotografi</a:t>
                      </a:r>
                      <a:endParaRPr lang="en-US" sz="17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598" marR="101598" marT="25399" marB="25399" anchor="ctr">
                    <a:lnL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Foto hero, foto produk, foto proses produksi · Menampilkan produk dan proses secara meyakinkan · Prioritas: Tinggi</a:t>
                      </a:r>
                      <a:endParaRPr lang="en-US" sz="17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598" marR="101598" marT="25399" marB="25399" anchor="ctr">
                    <a:lnL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93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Ikon UI</a:t>
                      </a:r>
                      <a:endParaRPr lang="en-US" sz="17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598" marR="101598" marT="25399" marB="25399" anchor="ctr">
                    <a:lnL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Pencarian, navigasi, WhatsApp, Instagram, TikTok, lokasi, jam operasional · Memperjelas interaksi dan informasi layanan · Prioritas: Tinggi</a:t>
                      </a:r>
                      <a:endParaRPr lang="en-US" sz="17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598" marR="101598" marT="25399" marB="25399" anchor="ctr">
                    <a:lnL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93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Ilustrasi</a:t>
                      </a:r>
                      <a:endParaRPr lang="en-US" sz="17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598" marR="101598" marT="25399" marB="25399" anchor="ctr">
                    <a:lnL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Blob pattern dan elemen dekoratif makanan · Mendukung suasana visual brand · Prioritas: Sedang</a:t>
                      </a:r>
                      <a:endParaRPr lang="en-US" sz="17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598" marR="101598" marT="25399" marB="25399" anchor="ctr">
                    <a:lnL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54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Grafis pendukung</a:t>
                      </a:r>
                      <a:endParaRPr lang="en-US" sz="17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598" marR="101598" marT="25399" marB="25399" anchor="ctr">
                    <a:lnL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Favicon, Open Graph, banner, thumbnail kategori · Mendukung distribusi dan pengenalan halaman · Prioritas: Sedang</a:t>
                      </a:r>
                      <a:endParaRPr lang="en-US" sz="17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598" marR="101598" marT="25399" marB="25399" anchor="ctr">
                    <a:lnL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BD2D07B-7738-EB10-6A3B-C1CFB4EEA1A6}"/>
              </a:ext>
            </a:extLst>
          </p:cNvPr>
          <p:cNvSpPr/>
          <p:nvPr/>
        </p:nvSpPr>
        <p:spPr>
          <a:xfrm>
            <a:off x="10531572" y="6372808"/>
            <a:ext cx="1623526" cy="466530"/>
          </a:xfrm>
          <a:prstGeom prst="rect">
            <a:avLst/>
          </a:prstGeom>
          <a:solidFill>
            <a:srgbClr val="FBF0D5"/>
          </a:solidFill>
          <a:ln>
            <a:solidFill>
              <a:srgbClr val="FBF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BDA66F-9B1B-5C31-9700-A9809D0C2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470630"/>
              </p:ext>
            </p:extLst>
          </p:nvPr>
        </p:nvGraphicFramePr>
        <p:xfrm>
          <a:off x="304945" y="5860603"/>
          <a:ext cx="11582110" cy="745470"/>
        </p:xfrm>
        <a:graphic>
          <a:graphicData uri="http://schemas.openxmlformats.org/drawingml/2006/table">
            <a:tbl>
              <a:tblPr/>
              <a:tblGrid>
                <a:gridCol w="2316402">
                  <a:extLst>
                    <a:ext uri="{9D8B030D-6E8A-4147-A177-3AD203B41FA5}">
                      <a16:colId xmlns:a16="http://schemas.microsoft.com/office/drawing/2014/main" val="1620664152"/>
                    </a:ext>
                  </a:extLst>
                </a:gridCol>
                <a:gridCol w="9265708">
                  <a:extLst>
                    <a:ext uri="{9D8B030D-6E8A-4147-A177-3AD203B41FA5}">
                      <a16:colId xmlns:a16="http://schemas.microsoft.com/office/drawing/2014/main" val="3634853047"/>
                    </a:ext>
                  </a:extLst>
                </a:gridCol>
              </a:tblGrid>
              <a:tr h="7454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charset="0"/>
                          <a:cs typeface="Libre Franklin" charset="0"/>
                        </a:rPr>
                        <a:t>Video </a:t>
                      </a:r>
                      <a:r>
                        <a:rPr lang="en-US" sz="1750" dirty="0" err="1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charset="0"/>
                          <a:cs typeface="Libre Franklin" charset="0"/>
                        </a:rPr>
                        <a:t>Profil</a:t>
                      </a:r>
                      <a:endParaRPr lang="en-US" sz="17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598" marR="101598" marT="25399" marB="25399" anchor="ctr">
                    <a:lnL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 err="1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Memperkenalkan</a:t>
                      </a: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</a:t>
                      </a:r>
                      <a:r>
                        <a:rPr lang="en-US" sz="1750" dirty="0" err="1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Identitas</a:t>
                      </a: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Brand, </a:t>
                      </a:r>
                      <a:r>
                        <a:rPr lang="en-US" sz="1750" dirty="0" err="1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Kualitas</a:t>
                      </a: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</a:t>
                      </a:r>
                      <a:r>
                        <a:rPr lang="en-US" sz="1750" dirty="0" err="1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Produk</a:t>
                      </a: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, dan proses </a:t>
                      </a:r>
                      <a:r>
                        <a:rPr lang="en-US" sz="1750" dirty="0" err="1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pembuatan</a:t>
                      </a: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Pempek Kevin · </a:t>
                      </a:r>
                      <a:r>
                        <a:rPr lang="en-US" sz="1750" dirty="0" err="1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Prioritas</a:t>
                      </a:r>
                      <a:r>
                        <a:rPr lang="en-US" sz="175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: Tinggi</a:t>
                      </a:r>
                      <a:endParaRPr lang="en-US" sz="17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598" marR="101598" marT="25399" marB="25399" anchor="ctr">
                    <a:lnL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52815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2341"/>
            <a:ext cx="1188690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C7351D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02 · SISTEM VISUAL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04792" y="666403"/>
            <a:ext cx="11582110" cy="945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800" kern="100" spc="-95" dirty="0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Sistem visual menyatukan produk, antarmuka, dan brand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04792" y="1762204"/>
            <a:ext cx="11886903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2A0A0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Palet brand: mustard #FFAE03 · merah #B01F24 · merah gelap #9F1C21 · putih · krem #FFF6E3.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304792" y="2275681"/>
            <a:ext cx="1188690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8" dirty="0">
                <a:solidFill>
                  <a:srgbClr val="2A0A0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Tipografi: Nunito untuk teks utama dan Quicksand untuk aksen atau hierarki, jika tersedia; gunakan sans-serif terdekat bila tidak tersedia.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4792" y="2689027"/>
            <a:ext cx="3352716" cy="1641277"/>
          </a:xfrm>
          <a:prstGeom prst="roundRect">
            <a:avLst>
              <a:gd name="adj" fmla="val 696"/>
            </a:avLst>
          </a:prstGeom>
          <a:solidFill>
            <a:srgbClr val="FBF0D5"/>
          </a:solidFill>
          <a:ln/>
        </p:spPr>
      </p:sp>
      <p:sp>
        <p:nvSpPr>
          <p:cNvPr id="7" name="Text 5"/>
          <p:cNvSpPr/>
          <p:nvPr/>
        </p:nvSpPr>
        <p:spPr>
          <a:xfrm>
            <a:off x="533387" y="2928450"/>
            <a:ext cx="2895528" cy="394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00" kern="100" spc="-27" dirty="0">
                <a:solidFill>
                  <a:srgbClr val="2A0A0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Heading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3387" y="3472736"/>
            <a:ext cx="2895528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2A0A0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Body text untuk informasi katalog.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3809905" y="2689027"/>
            <a:ext cx="3352716" cy="1641277"/>
          </a:xfrm>
          <a:prstGeom prst="roundRect">
            <a:avLst>
              <a:gd name="adj" fmla="val 696"/>
            </a:avLst>
          </a:prstGeom>
          <a:solidFill>
            <a:srgbClr val="C7351D"/>
          </a:solidFill>
          <a:ln/>
        </p:spPr>
      </p:sp>
      <p:sp>
        <p:nvSpPr>
          <p:cNvPr id="10" name="Text 8"/>
          <p:cNvSpPr/>
          <p:nvPr/>
        </p:nvSpPr>
        <p:spPr>
          <a:xfrm>
            <a:off x="4038499" y="2928450"/>
            <a:ext cx="2895528" cy="394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00" kern="100" spc="-27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Tombol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038499" y="3472736"/>
            <a:ext cx="2895528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CTA, kontak, dan aksi pengguna.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304792" y="4482703"/>
            <a:ext cx="3352716" cy="1641277"/>
          </a:xfrm>
          <a:prstGeom prst="roundRect">
            <a:avLst>
              <a:gd name="adj" fmla="val 696"/>
            </a:avLst>
          </a:prstGeom>
          <a:solidFill>
            <a:srgbClr val="FBF0D5"/>
          </a:solidFill>
          <a:ln/>
        </p:spPr>
      </p:sp>
      <p:sp>
        <p:nvSpPr>
          <p:cNvPr id="13" name="Text 11"/>
          <p:cNvSpPr/>
          <p:nvPr/>
        </p:nvSpPr>
        <p:spPr>
          <a:xfrm>
            <a:off x="533387" y="4722127"/>
            <a:ext cx="2895528" cy="394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00" kern="100" spc="-27" dirty="0">
                <a:solidFill>
                  <a:srgbClr val="2A0A0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Kartu produk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33387" y="5266412"/>
            <a:ext cx="2895528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2A0A0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Foto, nama, dan informasi produk.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3809905" y="4482703"/>
            <a:ext cx="3352716" cy="1641277"/>
          </a:xfrm>
          <a:prstGeom prst="roundRect">
            <a:avLst>
              <a:gd name="adj" fmla="val 696"/>
            </a:avLst>
          </a:prstGeom>
          <a:solidFill>
            <a:srgbClr val="C7351D"/>
          </a:solidFill>
          <a:ln/>
        </p:spPr>
      </p:sp>
      <p:sp>
        <p:nvSpPr>
          <p:cNvPr id="16" name="Text 14"/>
          <p:cNvSpPr/>
          <p:nvPr/>
        </p:nvSpPr>
        <p:spPr>
          <a:xfrm>
            <a:off x="4038499" y="4722127"/>
            <a:ext cx="2895528" cy="394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00" kern="100" spc="-27" dirty="0">
                <a:solidFill>
                  <a:srgbClr val="FFFFFF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Pencarian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038499" y="5266412"/>
            <a:ext cx="2895528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Kolom pencarian dan navigasi.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314918" y="2689027"/>
            <a:ext cx="4571985" cy="1429544"/>
          </a:xfrm>
          <a:prstGeom prst="rect">
            <a:avLst/>
          </a:prstGeom>
          <a:solidFill>
            <a:srgbClr val="FBF0D5"/>
          </a:solidFill>
          <a:ln w="6350">
            <a:solidFill>
              <a:srgbClr val="6C0F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2272" y="2931517"/>
            <a:ext cx="372676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6C0F0B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MOCKUP WIREFRAME WEBSITE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49862" y="3254653"/>
            <a:ext cx="4102097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50" dirty="0">
                <a:solidFill>
                  <a:srgbClr val="6C0F0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VISUALISASI DESAIN, BUKAN BUKTI ASET FINAL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314918" y="4270871"/>
            <a:ext cx="4571985" cy="1429544"/>
          </a:xfrm>
          <a:prstGeom prst="rect">
            <a:avLst/>
          </a:prstGeom>
          <a:solidFill>
            <a:srgbClr val="FBF0D5"/>
          </a:solidFill>
          <a:ln w="6350">
            <a:solidFill>
              <a:srgbClr val="6C0F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2757" y="4513362"/>
            <a:ext cx="316579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6C0F0B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BINGKAI SCREENSHOT 1:1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549862" y="4836497"/>
            <a:ext cx="4102097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50" dirty="0">
                <a:solidFill>
                  <a:srgbClr val="6C0F0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MASUKKAN SCREENSHOT DESAIN ATAU PREVIEW WEBSITE DI SINI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314918" y="6081316"/>
            <a:ext cx="457198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8" dirty="0" err="1">
                <a:solidFill>
                  <a:srgbClr val="2A0A0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Berikut</a:t>
            </a:r>
            <a:r>
              <a:rPr lang="en-US" sz="1200" kern="100" spc="18" dirty="0">
                <a:solidFill>
                  <a:srgbClr val="2A0A0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 salah </a:t>
            </a:r>
            <a:r>
              <a:rPr lang="en-US" sz="1200" kern="100" spc="18" dirty="0" err="1">
                <a:solidFill>
                  <a:srgbClr val="2A0A0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satu</a:t>
            </a:r>
            <a:r>
              <a:rPr lang="en-US" sz="1200" kern="100" spc="18" dirty="0">
                <a:solidFill>
                  <a:srgbClr val="2A0A0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 Gambar Kartu </a:t>
            </a:r>
            <a:r>
              <a:rPr lang="en-US" sz="1200" kern="100" spc="18" dirty="0" err="1">
                <a:solidFill>
                  <a:srgbClr val="2A0A0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Produk</a:t>
            </a:r>
            <a:r>
              <a:rPr lang="en-US" sz="1200" kern="100" spc="18" dirty="0">
                <a:solidFill>
                  <a:srgbClr val="2A0A0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 </a:t>
            </a:r>
            <a:r>
              <a:rPr lang="en-US" sz="1200" kern="100" spc="18" dirty="0" err="1">
                <a:solidFill>
                  <a:srgbClr val="2A0A0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dari</a:t>
            </a:r>
            <a:r>
              <a:rPr lang="en-US" sz="1200" kern="100" spc="18" dirty="0">
                <a:solidFill>
                  <a:srgbClr val="2A0A0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 </a:t>
            </a:r>
            <a:r>
              <a:rPr lang="en-US" sz="1200" kern="100" spc="18" dirty="0" err="1">
                <a:solidFill>
                  <a:srgbClr val="2A0A0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katalog</a:t>
            </a:r>
            <a:r>
              <a:rPr lang="en-US" sz="1200" kern="100" spc="18" dirty="0">
                <a:solidFill>
                  <a:srgbClr val="2A0A0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 </a:t>
            </a:r>
            <a:r>
              <a:rPr lang="en-US" sz="1200" kern="100" spc="18" dirty="0" err="1">
                <a:solidFill>
                  <a:srgbClr val="2A0A08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ini</a:t>
            </a:r>
            <a:endParaRPr lang="en-US" sz="1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44C4303-AFF6-E901-6425-1AF68685C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917" y="4243269"/>
            <a:ext cx="4625265" cy="165417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8BFA197-F232-B0BB-681F-5E9EC2F7C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302" y="2516603"/>
            <a:ext cx="4661216" cy="1641277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34FB3895-B60F-A03E-CEAB-0FBCB0C8BAEA}"/>
              </a:ext>
            </a:extLst>
          </p:cNvPr>
          <p:cNvSpPr/>
          <p:nvPr/>
        </p:nvSpPr>
        <p:spPr>
          <a:xfrm>
            <a:off x="10557246" y="6341940"/>
            <a:ext cx="1623526" cy="466530"/>
          </a:xfrm>
          <a:prstGeom prst="rect">
            <a:avLst/>
          </a:prstGeom>
          <a:solidFill>
            <a:srgbClr val="FBF0D5"/>
          </a:solidFill>
          <a:ln>
            <a:solidFill>
              <a:srgbClr val="FBF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aseline="-2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134"/>
            <a:ext cx="5714857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kern="100" spc="105" dirty="0">
                <a:solidFill>
                  <a:srgbClr val="EF8E75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03 · INVENTARISASI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04792" y="514793"/>
            <a:ext cx="5410065" cy="1165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100" kern="100" spc="-78" dirty="0">
                <a:solidFill>
                  <a:srgbClr val="F5E2B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Inventaris awal memisahkan aset siap, belum terbukti, dan belum diproduksi</a:t>
            </a:r>
            <a:endParaRPr lang="en-US" sz="3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57366"/>
              </p:ext>
            </p:extLst>
          </p:nvPr>
        </p:nvGraphicFramePr>
        <p:xfrm>
          <a:off x="304794" y="1762416"/>
          <a:ext cx="10349034" cy="3846869"/>
        </p:xfrm>
        <a:graphic>
          <a:graphicData uri="http://schemas.openxmlformats.org/drawingml/2006/table">
            <a:tbl>
              <a:tblPr/>
              <a:tblGrid>
                <a:gridCol w="714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5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6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4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05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72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No.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Nama Aset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Kategori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Format/Spesifikasi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Status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Keterangan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1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Palet warna brand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Identitas visual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HEX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Selesai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5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3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Ditetapkan dalam arahan desain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C735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2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Tipografi Nunito dan Quicksand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Tipografi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Font family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Selesai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5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3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Ditetapkan; ketersediaan font perlu dicek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C735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3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Referensi layout website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Panduan desain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Referensi layout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Selesai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5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3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Ditetapkan sebagai panduan desain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C735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2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4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Logo Pempek Kevin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Identitas brand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File logo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Perlu Verifikasi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2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Bukti file belum tersedia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F5E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5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deco-cuka.png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Grafis pendukung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Ikon web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Diproduksi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ada bukti produksi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1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6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hero-foto.jpg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Grafis digital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1200 × 800 px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Sudah</a:t>
                      </a: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terpasang</a:t>
                      </a: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, </a:t>
                      </a:r>
                      <a:r>
                        <a:rPr lang="en-US" sz="11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namun</a:t>
                      </a: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</a:t>
                      </a: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Final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ada bukti produksi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E1E7E8-0A7D-AF9B-7ACB-316C4E855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527677"/>
              </p:ext>
            </p:extLst>
          </p:nvPr>
        </p:nvGraphicFramePr>
        <p:xfrm>
          <a:off x="304792" y="5609285"/>
          <a:ext cx="10349034" cy="651543"/>
        </p:xfrm>
        <a:graphic>
          <a:graphicData uri="http://schemas.openxmlformats.org/drawingml/2006/table">
            <a:tbl>
              <a:tblPr/>
              <a:tblGrid>
                <a:gridCol w="714567">
                  <a:extLst>
                    <a:ext uri="{9D8B030D-6E8A-4147-A177-3AD203B41FA5}">
                      <a16:colId xmlns:a16="http://schemas.microsoft.com/office/drawing/2014/main" val="1401542605"/>
                    </a:ext>
                  </a:extLst>
                </a:gridCol>
                <a:gridCol w="1587564">
                  <a:extLst>
                    <a:ext uri="{9D8B030D-6E8A-4147-A177-3AD203B41FA5}">
                      <a16:colId xmlns:a16="http://schemas.microsoft.com/office/drawing/2014/main" val="2798145966"/>
                    </a:ext>
                  </a:extLst>
                </a:gridCol>
                <a:gridCol w="2055748">
                  <a:extLst>
                    <a:ext uri="{9D8B030D-6E8A-4147-A177-3AD203B41FA5}">
                      <a16:colId xmlns:a16="http://schemas.microsoft.com/office/drawing/2014/main" val="540819290"/>
                    </a:ext>
                  </a:extLst>
                </a:gridCol>
                <a:gridCol w="2436491">
                  <a:extLst>
                    <a:ext uri="{9D8B030D-6E8A-4147-A177-3AD203B41FA5}">
                      <a16:colId xmlns:a16="http://schemas.microsoft.com/office/drawing/2014/main" val="2134568066"/>
                    </a:ext>
                  </a:extLst>
                </a:gridCol>
                <a:gridCol w="1784085">
                  <a:extLst>
                    <a:ext uri="{9D8B030D-6E8A-4147-A177-3AD203B41FA5}">
                      <a16:colId xmlns:a16="http://schemas.microsoft.com/office/drawing/2014/main" val="1019438079"/>
                    </a:ext>
                  </a:extLst>
                </a:gridCol>
                <a:gridCol w="1770579">
                  <a:extLst>
                    <a:ext uri="{9D8B030D-6E8A-4147-A177-3AD203B41FA5}">
                      <a16:colId xmlns:a16="http://schemas.microsoft.com/office/drawing/2014/main" val="533728253"/>
                    </a:ext>
                  </a:extLst>
                </a:gridCol>
              </a:tblGrid>
              <a:tr h="651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charset="0"/>
                          <a:cs typeface="Libre Franklin" charset="0"/>
                        </a:rPr>
                        <a:t>7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deco-mentimun.png 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charset="0"/>
                          <a:cs typeface="Libre Franklin" charset="0"/>
                        </a:rPr>
                        <a:t>Grafis</a:t>
                      </a: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charset="0"/>
                          <a:cs typeface="Libre Franklin" charset="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charset="0"/>
                          <a:cs typeface="Libre Franklin" charset="0"/>
                        </a:rPr>
                        <a:t>Pendukung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300x300 </a:t>
                      </a:r>
                      <a:r>
                        <a:rPr lang="en-US" sz="11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px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Diproduksi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ada bukti produksi</a:t>
                      </a:r>
                      <a:endParaRPr lang="en-US" sz="11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2821" marR="82821" marT="44171" marB="44171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08196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49591C8-5DCC-F68C-34A9-18812C9F1E59}"/>
              </a:ext>
            </a:extLst>
          </p:cNvPr>
          <p:cNvSpPr/>
          <p:nvPr/>
        </p:nvSpPr>
        <p:spPr>
          <a:xfrm>
            <a:off x="10531572" y="6372808"/>
            <a:ext cx="1623526" cy="466530"/>
          </a:xfrm>
          <a:prstGeom prst="rect">
            <a:avLst/>
          </a:prstGeom>
          <a:solidFill>
            <a:srgbClr val="3E0908"/>
          </a:solidFill>
          <a:ln>
            <a:solidFill>
              <a:srgbClr val="3E09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060F-2D1A-B82E-1559-208AC60D9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C1B882-766D-0F2B-0C7B-BAFB34BF1BB3}"/>
              </a:ext>
            </a:extLst>
          </p:cNvPr>
          <p:cNvSpPr/>
          <p:nvPr/>
        </p:nvSpPr>
        <p:spPr>
          <a:xfrm>
            <a:off x="304792" y="313134"/>
            <a:ext cx="5714857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kern="100" spc="105" dirty="0">
                <a:solidFill>
                  <a:srgbClr val="EF8E75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04 · INVENTARISASI</a:t>
            </a:r>
            <a:endParaRPr lang="en-US" sz="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460228-954A-3AEA-8231-2A95AFB62107}"/>
              </a:ext>
            </a:extLst>
          </p:cNvPr>
          <p:cNvSpPr/>
          <p:nvPr/>
        </p:nvSpPr>
        <p:spPr>
          <a:xfrm>
            <a:off x="304792" y="514793"/>
            <a:ext cx="5410065" cy="1165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100" kern="100" spc="-78" dirty="0">
                <a:solidFill>
                  <a:srgbClr val="F5E2B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Inventaris awal memisahkan aset siap, belum terbukti, dan belum diproduksi</a:t>
            </a:r>
            <a:endParaRPr lang="en-US" sz="31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BE514A-2A7C-646C-D730-9131013E6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112817"/>
              </p:ext>
            </p:extLst>
          </p:nvPr>
        </p:nvGraphicFramePr>
        <p:xfrm>
          <a:off x="304792" y="1901824"/>
          <a:ext cx="11049008" cy="4120975"/>
        </p:xfrm>
        <a:graphic>
          <a:graphicData uri="http://schemas.openxmlformats.org/drawingml/2006/table">
            <a:tbl>
              <a:tblPr/>
              <a:tblGrid>
                <a:gridCol w="762898">
                  <a:extLst>
                    <a:ext uri="{9D8B030D-6E8A-4147-A177-3AD203B41FA5}">
                      <a16:colId xmlns:a16="http://schemas.microsoft.com/office/drawing/2014/main" val="1265042349"/>
                    </a:ext>
                  </a:extLst>
                </a:gridCol>
                <a:gridCol w="1694942">
                  <a:extLst>
                    <a:ext uri="{9D8B030D-6E8A-4147-A177-3AD203B41FA5}">
                      <a16:colId xmlns:a16="http://schemas.microsoft.com/office/drawing/2014/main" val="1682951202"/>
                    </a:ext>
                  </a:extLst>
                </a:gridCol>
                <a:gridCol w="2194791">
                  <a:extLst>
                    <a:ext uri="{9D8B030D-6E8A-4147-A177-3AD203B41FA5}">
                      <a16:colId xmlns:a16="http://schemas.microsoft.com/office/drawing/2014/main" val="1793845294"/>
                    </a:ext>
                  </a:extLst>
                </a:gridCol>
                <a:gridCol w="2601288">
                  <a:extLst>
                    <a:ext uri="{9D8B030D-6E8A-4147-A177-3AD203B41FA5}">
                      <a16:colId xmlns:a16="http://schemas.microsoft.com/office/drawing/2014/main" val="3504156638"/>
                    </a:ext>
                  </a:extLst>
                </a:gridCol>
                <a:gridCol w="1904754">
                  <a:extLst>
                    <a:ext uri="{9D8B030D-6E8A-4147-A177-3AD203B41FA5}">
                      <a16:colId xmlns:a16="http://schemas.microsoft.com/office/drawing/2014/main" val="2802853206"/>
                    </a:ext>
                  </a:extLst>
                </a:gridCol>
                <a:gridCol w="1890335">
                  <a:extLst>
                    <a:ext uri="{9D8B030D-6E8A-4147-A177-3AD203B41FA5}">
                      <a16:colId xmlns:a16="http://schemas.microsoft.com/office/drawing/2014/main" val="3939368992"/>
                    </a:ext>
                  </a:extLst>
                </a:gridCol>
              </a:tblGrid>
              <a:tr h="36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charset="0"/>
                          <a:cs typeface="Libre Franklin" charset="0"/>
                        </a:rPr>
                        <a:t>8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foto-tentang.jpg 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Fotografi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Cut-out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Dikumpulkan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ada bukti file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500096"/>
                  </a:ext>
                </a:extLst>
              </a:tr>
              <a:tr h="36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charset="0"/>
                          <a:cs typeface="Libre Franklin" charset="0"/>
                        </a:rPr>
                        <a:t>9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Foto produk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Fotografi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Foto katalog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Selesai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ada bukti file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869224"/>
                  </a:ext>
                </a:extLst>
              </a:tr>
              <a:tr h="5772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charset="0"/>
                          <a:cs typeface="Libre Franklin" charset="0"/>
                        </a:rPr>
                        <a:t>10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Foto produk unggulan untuk kartu bento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Fotografi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Foto katalog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Dikumpulkan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ada bukti file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513141"/>
                  </a:ext>
                </a:extLst>
              </a:tr>
              <a:tr h="36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11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cta-kiri.png 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Ikon web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Thumbnail web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Diproduksi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ada bukti produksi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2666384"/>
                  </a:ext>
                </a:extLst>
              </a:tr>
              <a:tr h="7937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12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Foto dapur, pemilik, proses produksi, dan pengiriman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Fotografi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Dokumentasi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Dikumpulkan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ada bukti file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3167455"/>
                  </a:ext>
                </a:extLst>
              </a:tr>
              <a:tr h="5772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13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cta-kanan.png 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Ikon web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Cut-out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Dikumpulkan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Sumber dan file belum ditentukan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3905258"/>
                  </a:ext>
                </a:extLst>
              </a:tr>
              <a:tr h="36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14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Blob pattern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Ilustrasi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Pattern digital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Diproduksi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ada bukti produksi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811484"/>
                  </a:ext>
                </a:extLst>
              </a:tr>
              <a:tr h="36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15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Banner CTA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Grafis promosi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Banner web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Diproduksi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ada bukti produksi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24491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DBFBB7D-6AA9-9329-6534-B103954B4FBF}"/>
              </a:ext>
            </a:extLst>
          </p:cNvPr>
          <p:cNvSpPr/>
          <p:nvPr/>
        </p:nvSpPr>
        <p:spPr>
          <a:xfrm>
            <a:off x="10531572" y="6372808"/>
            <a:ext cx="1623526" cy="466530"/>
          </a:xfrm>
          <a:prstGeom prst="rect">
            <a:avLst/>
          </a:prstGeom>
          <a:solidFill>
            <a:srgbClr val="3E0908"/>
          </a:solidFill>
          <a:ln>
            <a:solidFill>
              <a:srgbClr val="3E09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2C8E77-76F6-2B08-EC0A-153C838D9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661570"/>
              </p:ext>
            </p:extLst>
          </p:nvPr>
        </p:nvGraphicFramePr>
        <p:xfrm>
          <a:off x="304792" y="6014114"/>
          <a:ext cx="11049008" cy="461378"/>
        </p:xfrm>
        <a:graphic>
          <a:graphicData uri="http://schemas.openxmlformats.org/drawingml/2006/table">
            <a:tbl>
              <a:tblPr/>
              <a:tblGrid>
                <a:gridCol w="762898">
                  <a:extLst>
                    <a:ext uri="{9D8B030D-6E8A-4147-A177-3AD203B41FA5}">
                      <a16:colId xmlns:a16="http://schemas.microsoft.com/office/drawing/2014/main" val="1717721609"/>
                    </a:ext>
                  </a:extLst>
                </a:gridCol>
                <a:gridCol w="1694942">
                  <a:extLst>
                    <a:ext uri="{9D8B030D-6E8A-4147-A177-3AD203B41FA5}">
                      <a16:colId xmlns:a16="http://schemas.microsoft.com/office/drawing/2014/main" val="2199140019"/>
                    </a:ext>
                  </a:extLst>
                </a:gridCol>
                <a:gridCol w="2194791">
                  <a:extLst>
                    <a:ext uri="{9D8B030D-6E8A-4147-A177-3AD203B41FA5}">
                      <a16:colId xmlns:a16="http://schemas.microsoft.com/office/drawing/2014/main" val="372726659"/>
                    </a:ext>
                  </a:extLst>
                </a:gridCol>
                <a:gridCol w="2601288">
                  <a:extLst>
                    <a:ext uri="{9D8B030D-6E8A-4147-A177-3AD203B41FA5}">
                      <a16:colId xmlns:a16="http://schemas.microsoft.com/office/drawing/2014/main" val="3143837106"/>
                    </a:ext>
                  </a:extLst>
                </a:gridCol>
                <a:gridCol w="1904754">
                  <a:extLst>
                    <a:ext uri="{9D8B030D-6E8A-4147-A177-3AD203B41FA5}">
                      <a16:colId xmlns:a16="http://schemas.microsoft.com/office/drawing/2014/main" val="1203223816"/>
                    </a:ext>
                  </a:extLst>
                </a:gridCol>
                <a:gridCol w="1890335">
                  <a:extLst>
                    <a:ext uri="{9D8B030D-6E8A-4147-A177-3AD203B41FA5}">
                      <a16:colId xmlns:a16="http://schemas.microsoft.com/office/drawing/2014/main" val="1207675827"/>
                    </a:ext>
                  </a:extLst>
                </a:gridCol>
              </a:tblGrid>
              <a:tr h="3607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16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charset="0"/>
                          <a:cs typeface="Libre Franklin" charset="0"/>
                        </a:rPr>
                        <a:t>Konten</a:t>
                      </a: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charset="0"/>
                          <a:cs typeface="Libre Franklin" charset="0"/>
                        </a:rPr>
                        <a:t> Video </a:t>
                      </a:r>
                      <a:r>
                        <a:rPr lang="en-US" sz="12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charset="0"/>
                          <a:cs typeface="Libre Franklin" charset="0"/>
                        </a:rPr>
                        <a:t>Profil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Grafis promosi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charset="0"/>
                          <a:cs typeface="Libre Franklin" charset="0"/>
                        </a:rPr>
                        <a:t>Video </a:t>
                      </a:r>
                      <a:r>
                        <a:rPr lang="en-US" sz="12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charset="0"/>
                          <a:cs typeface="Libre Franklin" charset="0"/>
                        </a:rPr>
                        <a:t>Profil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Diproduksi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ada bukti produksi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9642" marR="89642" marT="47809" marB="47809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5524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9443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2341"/>
            <a:ext cx="1188690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C7351D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05 · DOKUMENTASI PRODUKSI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12158" y="1004276"/>
            <a:ext cx="7088102" cy="1533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82000"/>
              </a:lnSpc>
            </a:pPr>
            <a:r>
              <a:rPr lang="en-US" sz="5400" kern="100" spc="-130" dirty="0" err="1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Dokumentasi</a:t>
            </a:r>
            <a:r>
              <a:rPr lang="en-US" sz="5400" kern="100" spc="-130" dirty="0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5400" kern="100" spc="-130" dirty="0" err="1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produksi</a:t>
            </a:r>
            <a:endParaRPr lang="en-US" sz="5400" kern="100" spc="-130" dirty="0">
              <a:solidFill>
                <a:srgbClr val="2A0A08"/>
              </a:solidFill>
              <a:latin typeface="Playfair Display" pitchFamily="34" charset="0"/>
              <a:ea typeface="Playfair Display" pitchFamily="34" charset="-122"/>
              <a:cs typeface="Playfair Display" pitchFamily="34" charset="-120"/>
            </a:endParaRPr>
          </a:p>
          <a:p>
            <a:pPr>
              <a:lnSpc>
                <a:spcPct val="82000"/>
              </a:lnSpc>
            </a:pPr>
            <a:r>
              <a:rPr lang="en-US" sz="5400" kern="100" spc="-130" dirty="0" err="1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menjadi</a:t>
            </a:r>
            <a:r>
              <a:rPr lang="en-US" sz="5400" kern="100" spc="-130" dirty="0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5400" kern="100" spc="-130" dirty="0" err="1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bukti</a:t>
            </a:r>
            <a:endParaRPr lang="en-US" sz="5400" kern="100" spc="-130" dirty="0">
              <a:solidFill>
                <a:srgbClr val="2A0A08"/>
              </a:solidFill>
              <a:latin typeface="Playfair Display" pitchFamily="34" charset="0"/>
              <a:ea typeface="Playfair Display" pitchFamily="34" charset="-122"/>
              <a:cs typeface="Playfair Display" pitchFamily="34" charset="-120"/>
            </a:endParaRPr>
          </a:p>
          <a:p>
            <a:pPr>
              <a:lnSpc>
                <a:spcPct val="82000"/>
              </a:lnSpc>
            </a:pPr>
            <a:r>
              <a:rPr lang="en-US" sz="5400" kern="100" spc="-130" dirty="0" err="1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pengembangan</a:t>
            </a:r>
            <a:r>
              <a:rPr lang="en-US" sz="5400" kern="100" spc="-130" dirty="0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aset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12158" y="3120040"/>
            <a:ext cx="11582110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2A0A0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Isi halaman dengan dokumentasi aktual dari proses pengembangan yang disesuaikan dengan kebutuhan website katalog.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086727" y="4234088"/>
            <a:ext cx="218533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6C0F0B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BINGKAI FOTO 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72308" y="4536819"/>
            <a:ext cx="2864794" cy="92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6C0F0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FOTO PRODUK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6C0F0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SEBELUM EDITING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086727" y="5534606"/>
            <a:ext cx="459123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</a:pPr>
            <a:r>
              <a:rPr lang="en-US" sz="1200" kern="100" spc="18" dirty="0">
                <a:solidFill>
                  <a:srgbClr val="6C0F0B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DSC04466.jpg/19Okt26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9AF3554-688A-34D6-3505-6D952071B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37" y="4066920"/>
            <a:ext cx="2550252" cy="1703554"/>
          </a:xfrm>
          <a:prstGeom prst="rect">
            <a:avLst/>
          </a:prstGeom>
        </p:spPr>
      </p:pic>
      <p:sp>
        <p:nvSpPr>
          <p:cNvPr id="26" name="Text 4">
            <a:extLst>
              <a:ext uri="{FF2B5EF4-FFF2-40B4-BE49-F238E27FC236}">
                <a16:creationId xmlns:a16="http://schemas.microsoft.com/office/drawing/2014/main" id="{A664538F-34E0-9EE3-1F0B-AA4F3AC06A7F}"/>
              </a:ext>
            </a:extLst>
          </p:cNvPr>
          <p:cNvSpPr/>
          <p:nvPr/>
        </p:nvSpPr>
        <p:spPr>
          <a:xfrm>
            <a:off x="9029474" y="4191311"/>
            <a:ext cx="218533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6C0F0B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BINGKAI FOTO 2</a:t>
            </a:r>
            <a:endParaRPr lang="en-US" sz="125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C65CB259-53A7-3AAF-26C3-DF1C85D1B957}"/>
              </a:ext>
            </a:extLst>
          </p:cNvPr>
          <p:cNvSpPr/>
          <p:nvPr/>
        </p:nvSpPr>
        <p:spPr>
          <a:xfrm>
            <a:off x="9029474" y="4465559"/>
            <a:ext cx="2864794" cy="997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dirty="0">
                <a:solidFill>
                  <a:srgbClr val="6C0F0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FOTO SETELAH</a:t>
            </a:r>
          </a:p>
          <a:p>
            <a:pPr>
              <a:lnSpc>
                <a:spcPct val="118000"/>
              </a:lnSpc>
            </a:pPr>
            <a:r>
              <a:rPr lang="en-US" dirty="0">
                <a:solidFill>
                  <a:srgbClr val="6C0F0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BACKGROUND</a:t>
            </a:r>
          </a:p>
          <a:p>
            <a:pPr>
              <a:lnSpc>
                <a:spcPct val="118000"/>
              </a:lnSpc>
            </a:pPr>
            <a:r>
              <a:rPr lang="en-US" dirty="0">
                <a:solidFill>
                  <a:srgbClr val="6C0F0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REMOVAL / CUT-OUT</a:t>
            </a:r>
            <a:endParaRPr lang="en-US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C3B1C161-67D9-F491-69EB-A4721B98F747}"/>
              </a:ext>
            </a:extLst>
          </p:cNvPr>
          <p:cNvSpPr/>
          <p:nvPr/>
        </p:nvSpPr>
        <p:spPr>
          <a:xfrm>
            <a:off x="9029474" y="5491829"/>
            <a:ext cx="459123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</a:pPr>
            <a:r>
              <a:rPr lang="en-US" sz="1200" kern="100" spc="18" dirty="0">
                <a:solidFill>
                  <a:srgbClr val="6C0F0B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DSC04466.jpg/19Okt26</a:t>
            </a:r>
            <a:endParaRPr lang="en-US" sz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54DC333-1FE2-9F02-4065-2B978946E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490" y="4139066"/>
            <a:ext cx="2770549" cy="1559262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EE3A357-9A37-1868-4C82-AD1F7353B664}"/>
              </a:ext>
            </a:extLst>
          </p:cNvPr>
          <p:cNvSpPr/>
          <p:nvPr/>
        </p:nvSpPr>
        <p:spPr>
          <a:xfrm>
            <a:off x="10531572" y="6372808"/>
            <a:ext cx="1623526" cy="466530"/>
          </a:xfrm>
          <a:prstGeom prst="rect">
            <a:avLst/>
          </a:prstGeom>
          <a:solidFill>
            <a:srgbClr val="FBF0D5"/>
          </a:solidFill>
          <a:ln>
            <a:solidFill>
              <a:srgbClr val="FBF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1520"/>
            <a:ext cx="11886903" cy="18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100" spc="161" dirty="0">
                <a:solidFill>
                  <a:srgbClr val="EF8E75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06 · KONTROL PROGRES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304792" y="629240"/>
            <a:ext cx="11582110" cy="435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500" kern="100" spc="-87" dirty="0">
                <a:solidFill>
                  <a:srgbClr val="F5E2B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Progres ditentukan oleh bukti, bukan perkiraan persentase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304792" y="1189366"/>
            <a:ext cx="1188690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50" dirty="0">
                <a:solidFill>
                  <a:srgbClr val="F5E2B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Timeline: Analisis Kebutuhan → Persiapan Desain → Produksi Aset → Pengumpulan dan Verifikasi → Integrasi ke Website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301227"/>
              </p:ext>
            </p:extLst>
          </p:nvPr>
        </p:nvGraphicFramePr>
        <p:xfrm>
          <a:off x="304792" y="1610916"/>
          <a:ext cx="5638659" cy="5228003"/>
        </p:xfrm>
        <a:graphic>
          <a:graphicData uri="http://schemas.openxmlformats.org/drawingml/2006/table">
            <a:tbl>
              <a:tblPr/>
              <a:tblGrid>
                <a:gridCol w="1409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0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8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1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Komponen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Status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Bukti · Langkah Selanjutnya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8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Pedoman warna dan tipografi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Selesai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5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3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Arahan desain tersedia · Terapkan secara konsisten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C735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28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Logo dan favicon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Perlu Verifikasi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2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Bukti file belum tersedia · Kumpulkan dan verifikasi file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F5E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28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Foto hero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Final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Sudah</a:t>
                      </a: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ada</a:t>
                      </a: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File </a:t>
                      </a:r>
                      <a:r>
                        <a:rPr lang="en-US" sz="16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nya</a:t>
                      </a: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namun</a:t>
                      </a: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editing </a:t>
                      </a:r>
                      <a:r>
                        <a:rPr lang="en-US" sz="16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</a:t>
                      </a: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optimal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40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Foto produk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charset="0"/>
                          <a:cs typeface="Libre Franklin" charset="0"/>
                        </a:rPr>
                        <a:t>Selesai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Sudah</a:t>
                      </a: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ada</a:t>
                      </a: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Produksi</a:t>
                      </a: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dari</a:t>
                      </a: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foto</a:t>
                      </a: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Produk</a:t>
                      </a: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 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01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Ikon SVG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Dimulai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Sumber belum ditentukan · Tentukan sumber dan lisensi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1610916"/>
          <a:ext cx="5638659" cy="4772898"/>
        </p:xfrm>
        <a:graphic>
          <a:graphicData uri="http://schemas.openxmlformats.org/drawingml/2006/table">
            <a:tbl>
              <a:tblPr/>
              <a:tblGrid>
                <a:gridCol w="163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0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40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Komponen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Status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Bukti · Langkah Selanjutnya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8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Ilustrasi dekoratif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Dimulai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ada bukti produksi · Buat blob pattern dan elemen makanan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28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Pengumpulan aset eksternal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Dimulai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Sumber belum ditentukan · Kumpulkan aset sesuai lisensi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28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Dokumentasi lisensi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Dimulai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Bukti lisensi belum tersedia · Simpan URL, atribusi, dan screenshot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01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Optimasi aset untuk website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Dimulai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5E2BD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Belum ada bukti integrasi · Optimalkan format, ukuran, dan performa</a:t>
                      </a:r>
                      <a:endParaRPr lang="en-US" sz="16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53440" marR="153440" marT="81835" marB="81835" anchor="ctr">
                    <a:lnL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4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09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C104A3B-F8AC-5C14-5161-12828BB1A687}"/>
              </a:ext>
            </a:extLst>
          </p:cNvPr>
          <p:cNvSpPr/>
          <p:nvPr/>
        </p:nvSpPr>
        <p:spPr>
          <a:xfrm>
            <a:off x="10531572" y="6372808"/>
            <a:ext cx="1623526" cy="466530"/>
          </a:xfrm>
          <a:prstGeom prst="rect">
            <a:avLst/>
          </a:prstGeom>
          <a:solidFill>
            <a:srgbClr val="3E0908"/>
          </a:solidFill>
          <a:ln>
            <a:solidFill>
              <a:srgbClr val="3E09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575618"/>
            <a:ext cx="11582110" cy="945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800" kern="100" spc="-95" dirty="0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Aset yang konsisten dan dapat dipertanggungjawabkan menjadi fondasi website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2" y="1669355"/>
            <a:ext cx="444489" cy="444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4792" y="2254854"/>
            <a:ext cx="3657509" cy="394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00" kern="100" spc="-27" dirty="0">
                <a:solidFill>
                  <a:srgbClr val="2A0A0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Kebutuhan terarah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04792" y="2799140"/>
            <a:ext cx="3657509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2A0A0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Analisis kebutuhan grafis menentukan aset untuk website katalog.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3" y="1669355"/>
            <a:ext cx="444489" cy="444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67093" y="2254854"/>
            <a:ext cx="3657509" cy="394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00" kern="100" spc="-27" dirty="0">
                <a:solidFill>
                  <a:srgbClr val="2A0A0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Identitas konsisten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4267093" y="2799140"/>
            <a:ext cx="3657509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2A0A0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Produksi dan pengumpulan aset mengikuti identitas visual brand.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394" y="1669355"/>
            <a:ext cx="444489" cy="444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394" y="2254854"/>
            <a:ext cx="3657509" cy="394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00" kern="100" spc="-27" dirty="0">
                <a:solidFill>
                  <a:srgbClr val="2A0A08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Bukti tersimpan</a:t>
            </a:r>
            <a:endParaRPr lang="en-US" sz="2700" dirty="0"/>
          </a:p>
        </p:txBody>
      </p:sp>
      <p:sp>
        <p:nvSpPr>
          <p:cNvPr id="11" name="Text 6"/>
          <p:cNvSpPr/>
          <p:nvPr/>
        </p:nvSpPr>
        <p:spPr>
          <a:xfrm>
            <a:off x="8229394" y="2799140"/>
            <a:ext cx="3657509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2A0A0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Dokumentasi hasil produksi dan verifikasi lisensi menjaga akuntabilitas.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599663" y="4557216"/>
            <a:ext cx="308830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6C0F0B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BINGKAI FOTO PENUTUP 4:3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332573" y="4880352"/>
            <a:ext cx="3327515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50" dirty="0">
                <a:solidFill>
                  <a:srgbClr val="6C0F0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MASUKKAN FOTO DI SINI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539736" y="5323979"/>
            <a:ext cx="2913287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kern="100" spc="18" dirty="0">
                <a:solidFill>
                  <a:srgbClr val="6C0F0B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Caption editable: [Keterangan visual penutup]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992661" y="4298335"/>
            <a:ext cx="7894242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2A0A0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Rencana lanjutan: menyelesaikan foto produk, membuat aset yang belum tersedia, mendokumentasikan proses editing, memeriksa lisensi, dan mengintegrasikan aset ke website.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3992661" y="5375057"/>
            <a:ext cx="7894242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50" dirty="0">
                <a:solidFill>
                  <a:srgbClr val="2A0A08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Membangun identitas visual Pempek Kevin melalui aset grafis yang konsisten, fungsional, dan sesuai kebutuhan pengguna.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5D9403-2CE3-DADE-FC1E-9D9FB1ABEED7}"/>
              </a:ext>
            </a:extLst>
          </p:cNvPr>
          <p:cNvSpPr/>
          <p:nvPr/>
        </p:nvSpPr>
        <p:spPr>
          <a:xfrm>
            <a:off x="10531572" y="6372808"/>
            <a:ext cx="1623526" cy="466530"/>
          </a:xfrm>
          <a:prstGeom prst="rect">
            <a:avLst/>
          </a:prstGeom>
          <a:solidFill>
            <a:srgbClr val="FBF0D5"/>
          </a:solidFill>
          <a:ln>
            <a:solidFill>
              <a:srgbClr val="FBF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D29BC8F-7856-5F1E-A225-09A1BF03F7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666" y="4251704"/>
            <a:ext cx="3383176" cy="1888328"/>
          </a:xfrm>
          <a:prstGeom prst="rect">
            <a:avLst/>
          </a:prstGeom>
        </p:spPr>
      </p:pic>
      <p:sp>
        <p:nvSpPr>
          <p:cNvPr id="24" name="Text 0">
            <a:extLst>
              <a:ext uri="{FF2B5EF4-FFF2-40B4-BE49-F238E27FC236}">
                <a16:creationId xmlns:a16="http://schemas.microsoft.com/office/drawing/2014/main" id="{5190CA96-9407-A87B-5939-6D2E21021B63}"/>
              </a:ext>
            </a:extLst>
          </p:cNvPr>
          <p:cNvSpPr/>
          <p:nvPr/>
        </p:nvSpPr>
        <p:spPr>
          <a:xfrm>
            <a:off x="304792" y="312341"/>
            <a:ext cx="1188690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C7351D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07 · DOKUMENTASI PRODUKSI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FF4C46-7E97-0AEB-4ABE-FA87C834B0C8}"/>
              </a:ext>
            </a:extLst>
          </p:cNvPr>
          <p:cNvSpPr/>
          <p:nvPr/>
        </p:nvSpPr>
        <p:spPr>
          <a:xfrm>
            <a:off x="10531572" y="6372808"/>
            <a:ext cx="1623526" cy="466530"/>
          </a:xfrm>
          <a:prstGeom prst="rect">
            <a:avLst/>
          </a:prstGeom>
          <a:solidFill>
            <a:srgbClr val="FBF0D5"/>
          </a:solidFill>
          <a:ln>
            <a:solidFill>
              <a:srgbClr val="FBF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Screen Recording 4">
            <a:hlinkClick r:id="" action="ppaction://media"/>
            <a:extLst>
              <a:ext uri="{FF2B5EF4-FFF2-40B4-BE49-F238E27FC236}">
                <a16:creationId xmlns:a16="http://schemas.microsoft.com/office/drawing/2014/main" id="{A413CB18-CA6C-1E78-D7D7-7041248FF40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35698" y="1566387"/>
            <a:ext cx="10011747" cy="4806421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A3439B5D-4E0F-A356-62B0-E848E23179BF}"/>
              </a:ext>
            </a:extLst>
          </p:cNvPr>
          <p:cNvSpPr/>
          <p:nvPr/>
        </p:nvSpPr>
        <p:spPr>
          <a:xfrm>
            <a:off x="1035698" y="739048"/>
            <a:ext cx="9632310" cy="85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800" kern="100" spc="-95" dirty="0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Preview </a:t>
            </a:r>
            <a:r>
              <a:rPr lang="en-US" sz="3800" kern="100" spc="-95" dirty="0" err="1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Katalog</a:t>
            </a:r>
            <a:r>
              <a:rPr lang="en-US" sz="3800" kern="100" spc="-95" dirty="0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, </a:t>
            </a:r>
            <a:r>
              <a:rPr lang="en-US" sz="3800" kern="100" spc="-95" dirty="0" err="1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setelah</a:t>
            </a:r>
            <a:r>
              <a:rPr lang="en-US" sz="3800" kern="100" spc="-95" dirty="0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3800" kern="100" spc="-95" dirty="0" err="1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ditambahkan</a:t>
            </a:r>
            <a:r>
              <a:rPr lang="en-US" sz="3800" kern="100" spc="-95" dirty="0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3800" kern="100" spc="-95" dirty="0" err="1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beberapa</a:t>
            </a:r>
            <a:r>
              <a:rPr lang="en-US" sz="3800" kern="100" spc="-95" dirty="0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Aset </a:t>
            </a:r>
            <a:r>
              <a:rPr lang="en-US" sz="3800" kern="100" spc="-95" dirty="0" err="1">
                <a:solidFill>
                  <a:srgbClr val="2A0A0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Grafis</a:t>
            </a:r>
            <a:endParaRPr lang="en-US" sz="38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8FB84A05-534C-B092-D123-5F1BF0E79660}"/>
              </a:ext>
            </a:extLst>
          </p:cNvPr>
          <p:cNvSpPr/>
          <p:nvPr/>
        </p:nvSpPr>
        <p:spPr>
          <a:xfrm>
            <a:off x="1035698" y="411560"/>
            <a:ext cx="1188690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C7351D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08 · DOKUMENTASI PREVIEW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916719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596"/>
    </mc:Choice>
    <mc:Fallback>
      <p:transition spd="slow" advTm="675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27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956</Words>
  <Application>Microsoft Office PowerPoint</Application>
  <PresentationFormat>Widescreen</PresentationFormat>
  <Paragraphs>225</Paragraphs>
  <Slides>9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Playfair Display</vt:lpstr>
      <vt:lpstr>Arial</vt:lpstr>
      <vt:lpstr>Libre Franklin Bold</vt:lpstr>
      <vt:lpstr>Libre Franklin</vt:lpstr>
      <vt:lpstr>Libre Franklin Medium</vt:lpstr>
      <vt:lpstr>Libre Franklin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Muhammad Kevin</dc:creator>
  <cp:lastModifiedBy>Muhammad Kevin</cp:lastModifiedBy>
  <cp:revision>5</cp:revision>
  <dcterms:created xsi:type="dcterms:W3CDTF">2026-10-20T13:24:42Z</dcterms:created>
  <dcterms:modified xsi:type="dcterms:W3CDTF">2026-10-21T06:53:00Z</dcterms:modified>
</cp:coreProperties>
</file>